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tags/tag20.xml" ContentType="application/vnd.openxmlformats-officedocument.presentationml.tags+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sldIdLst>
    <p:sldId id="263" r:id="rId2"/>
    <p:sldId id="272" r:id="rId3"/>
    <p:sldId id="315" r:id="rId4"/>
    <p:sldId id="316" r:id="rId5"/>
    <p:sldId id="317" r:id="rId6"/>
    <p:sldId id="299" r:id="rId7"/>
    <p:sldId id="304" r:id="rId8"/>
    <p:sldId id="305" r:id="rId9"/>
    <p:sldId id="307" r:id="rId10"/>
    <p:sldId id="296" r:id="rId11"/>
    <p:sldId id="300" r:id="rId12"/>
    <p:sldId id="308" r:id="rId13"/>
    <p:sldId id="310" r:id="rId14"/>
    <p:sldId id="311" r:id="rId15"/>
    <p:sldId id="312" r:id="rId16"/>
    <p:sldId id="313" r:id="rId17"/>
    <p:sldId id="302" r:id="rId18"/>
    <p:sldId id="309" r:id="rId19"/>
    <p:sldId id="303" r:id="rId20"/>
    <p:sldId id="301" r:id="rId2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94"/>
  </p:normalViewPr>
  <p:slideViewPr>
    <p:cSldViewPr snapToGrid="0">
      <p:cViewPr varScale="1">
        <p:scale>
          <a:sx n="104" d="100"/>
          <a:sy n="104" d="100"/>
        </p:scale>
        <p:origin x="240"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132A-B803-ED4F-A2A3-F6936AF16E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6A59B16-2CF6-6E32-0D11-D6F97D825B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1616EB-8305-6357-163B-4EF465896EB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8244A0C-C891-E6C3-38AA-F52EB1CAE714}"/>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27664185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dirty="0">
                <a:solidFill>
                  <a:srgbClr val="2D3B45"/>
                </a:solidFill>
                <a:effectLst/>
                <a:latin typeface="Lato Extended"/>
              </a:rPr>
              <a:t>Introduction Slide</a:t>
            </a:r>
            <a:endParaRPr lang="en-US" altLang="zh-CN" sz="1800" b="0" i="0" dirty="0">
              <a:solidFill>
                <a:srgbClr val="2D3B45"/>
              </a:solidFill>
              <a:effectLst/>
              <a:latin typeface="Lato Extended"/>
            </a:endParaRPr>
          </a:p>
          <a:p>
            <a:pPr algn="l">
              <a:spcAft>
                <a:spcPts val="450"/>
              </a:spcAft>
              <a:buFont typeface="Arial" panose="020B0604020202020204" pitchFamily="34" charset="0"/>
              <a:buChar char="•"/>
            </a:pPr>
            <a:r>
              <a:rPr lang="en-US" altLang="zh-CN" sz="1800" b="1" i="0" dirty="0">
                <a:solidFill>
                  <a:srgbClr val="2D3B45"/>
                </a:solidFill>
                <a:effectLst/>
                <a:latin typeface="v-sans"/>
              </a:rPr>
              <a:t>Brief Introduction:</a:t>
            </a:r>
            <a:r>
              <a:rPr lang="en-US" altLang="zh-CN" sz="1800" b="0" i="0" dirty="0">
                <a:solidFill>
                  <a:srgbClr val="2D3B45"/>
                </a:solidFill>
                <a:effectLst/>
                <a:latin typeface="v-sans"/>
              </a:rPr>
              <a:t> of the team and the topic</a:t>
            </a:r>
          </a:p>
          <a:p>
            <a:endParaRPr lang="zh-CN" altLang="en-US" dirty="0"/>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3145197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32352872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2966778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32003442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17</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18</a:t>
            </a:fld>
            <a:endParaRPr lang="zh-CN" altLang="en-US"/>
          </a:p>
        </p:txBody>
      </p:sp>
    </p:spTree>
    <p:extLst>
      <p:ext uri="{BB962C8B-B14F-4D97-AF65-F5344CB8AC3E}">
        <p14:creationId xmlns:p14="http://schemas.microsoft.com/office/powerpoint/2010/main" val="19939387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19</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20</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5" Type="http://schemas.openxmlformats.org/officeDocument/2006/relationships/image" Target="../media/image4.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5" Type="http://schemas.openxmlformats.org/officeDocument/2006/relationships/image" Target="../media/image5.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18.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ags" Target="../tags/tag19.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ags" Target="../tags/tag20.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1028319729"/>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a:solidFill>
                            <a:srgbClr val="13294B"/>
                          </a:solidFill>
                          <a:latin typeface="Calibri"/>
                          <a:ea typeface="宋体"/>
                          <a:cs typeface="Calibri"/>
                        </a:rPr>
                        <a:t>Yu-Liang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Do frontier LLMs systematically </a:t>
            </a:r>
            <a:r>
              <a:rPr lang="en-US" altLang="zh-CN" sz="3200" dirty="0">
                <a:solidFill>
                  <a:srgbClr val="FF5F05"/>
                </a:solidFill>
                <a:latin typeface="Calibri"/>
                <a:ea typeface="宋体"/>
                <a:cs typeface="Calibri"/>
              </a:rPr>
              <a:t>over empathize or under-empathize</a:t>
            </a:r>
            <a:r>
              <a:rPr lang="en-US" altLang="zh-CN" sz="3200" dirty="0">
                <a:solidFill>
                  <a:srgbClr val="13294B"/>
                </a:solidFill>
                <a:latin typeface="Calibri"/>
                <a:ea typeface="宋体"/>
                <a:cs typeface="Calibri"/>
              </a:rPr>
              <a:t>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Is this empathy miscalibration consistent across industry domains, or </a:t>
            </a:r>
            <a:r>
              <a:rPr lang="en-US" altLang="zh-CN" sz="3200" dirty="0">
                <a:solidFill>
                  <a:srgbClr val="FF5F05"/>
                </a:solidFill>
                <a:latin typeface="Calibri"/>
                <a:ea typeface="宋体"/>
                <a:cs typeface="Calibri"/>
              </a:rPr>
              <a:t>does it vary by context</a:t>
            </a:r>
            <a:r>
              <a:rPr lang="en-US" altLang="zh-CN" sz="3200" dirty="0">
                <a:solidFill>
                  <a:srgbClr val="13294B"/>
                </a:solidFill>
                <a:latin typeface="Calibri"/>
                <a:ea typeface="宋体"/>
                <a:cs typeface="Calibri"/>
              </a:rPr>
              <a:t>—specifically between airlines and telecom?</a:t>
            </a:r>
          </a:p>
        </p:txBody>
      </p:sp>
    </p:spTree>
    <p:extLst>
      <p:ext uri="{BB962C8B-B14F-4D97-AF65-F5344CB8AC3E}">
        <p14:creationId xmlns:p14="http://schemas.microsoft.com/office/powerpoint/2010/main" val="1684372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469359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well-documented failure mode of RLHF-trained models is sycophancy—the </a:t>
            </a:r>
            <a:r>
              <a:rPr lang="en-US" altLang="zh-CN" sz="2800" dirty="0">
                <a:solidFill>
                  <a:srgbClr val="FF5F05"/>
                </a:solidFill>
                <a:latin typeface="Calibri"/>
                <a:ea typeface="宋体"/>
                <a:cs typeface="Calibri"/>
              </a:rPr>
              <a:t>tendency to agree with or flatter users </a:t>
            </a:r>
            <a:r>
              <a:rPr lang="en-US" altLang="zh-CN" sz="28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The NLP empathy literature is </a:t>
            </a:r>
            <a:r>
              <a:rPr lang="en-US" altLang="zh-CN" sz="2800" dirty="0">
                <a:solidFill>
                  <a:srgbClr val="FF5F05"/>
                </a:solidFill>
                <a:latin typeface="Calibri"/>
                <a:ea typeface="宋体"/>
                <a:cs typeface="Calibri"/>
              </a:rPr>
              <a:t>growing but domain-narrow</a:t>
            </a:r>
            <a:r>
              <a:rPr lang="en-US" altLang="zh-CN" sz="2800" dirty="0">
                <a:solidFill>
                  <a:srgbClr val="13294B"/>
                </a:solidFill>
                <a:latin typeface="Calibri"/>
                <a:ea typeface="宋体"/>
                <a:cs typeface="Calibri"/>
              </a:rPr>
              <a:t>. A systematic review of 12 studies on LLMs and empathy found that 7 focused exclusively on medical contexts.</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Meanwhile, LLMs nearly match expert reliability when judging empathic communication but was limited to personal-problems contexts, rather than transactional service dialogues.</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19739325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E1851-927A-B265-E122-FF50BB7F778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D220B63A-D205-550F-CE68-F10F7F88DDF2}"/>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D5564321-B1AA-80EE-EF3F-D1BD240944B4}"/>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Gap</a:t>
            </a:r>
          </a:p>
        </p:txBody>
      </p:sp>
      <p:sp>
        <p:nvSpPr>
          <p:cNvPr id="9" name="半闭框 8">
            <a:extLst>
              <a:ext uri="{FF2B5EF4-FFF2-40B4-BE49-F238E27FC236}">
                <a16:creationId xmlns:a16="http://schemas.microsoft.com/office/drawing/2014/main" id="{1DA82BCC-7E88-6D72-FD17-F895A05294F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15925586-2913-BEFD-4E00-F7DAED0D824D}"/>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3DC0BFC-571D-2143-6E7D-61F157F348FD}"/>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34B27C66-754D-6FD4-05C4-D2319A7A941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1C185285-89B3-B00D-896A-38CDDD591A4B}"/>
              </a:ext>
            </a:extLst>
          </p:cNvPr>
          <p:cNvSpPr txBox="1"/>
          <p:nvPr/>
        </p:nvSpPr>
        <p:spPr>
          <a:xfrm>
            <a:off x="613543" y="1741049"/>
            <a:ext cx="10892338" cy="440120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a:t>
            </a:r>
            <a:r>
              <a:rPr lang="en-US" altLang="zh-CN" sz="2800" dirty="0">
                <a:solidFill>
                  <a:srgbClr val="FF5F05"/>
                </a:solidFill>
                <a:latin typeface="Calibri"/>
                <a:ea typeface="宋体"/>
                <a:cs typeface="Calibri"/>
              </a:rPr>
              <a:t>Sycophancy</a:t>
            </a:r>
            <a:r>
              <a:rPr lang="en-US" altLang="zh-CN" sz="2800" dirty="0">
                <a:solidFill>
                  <a:srgbClr val="13294B"/>
                </a:solidFill>
                <a:latin typeface="Calibri"/>
                <a:ea typeface="宋体"/>
                <a:cs typeface="Calibri"/>
              </a:rPr>
              <a:t> research measures opinion-conformity, not tonal appropriateness.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Empathy</a:t>
            </a:r>
            <a:r>
              <a:rPr lang="en-US" altLang="zh-CN" sz="2800" dirty="0">
                <a:solidFill>
                  <a:srgbClr val="13294B"/>
                </a:solidFill>
                <a:latin typeface="Calibri"/>
                <a:ea typeface="宋体"/>
                <a:cs typeface="Calibri"/>
              </a:rPr>
              <a:t> research evaluates support-context warmth, not calibration to frustration level.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Customer service NLP </a:t>
            </a:r>
            <a:r>
              <a:rPr lang="en-US" altLang="zh-CN" sz="2800" dirty="0">
                <a:solidFill>
                  <a:srgbClr val="13294B"/>
                </a:solidFill>
                <a:latin typeface="Calibri"/>
                <a:ea typeface="宋体"/>
                <a:cs typeface="Calibri"/>
              </a:rPr>
              <a:t>evaluates response quality against idealized rewrites, not observed human behavior.</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Our study sits at the </a:t>
            </a:r>
            <a:r>
              <a:rPr lang="en-US" altLang="zh-CN" sz="2800" dirty="0">
                <a:solidFill>
                  <a:srgbClr val="FF5F05"/>
                </a:solidFill>
                <a:latin typeface="Calibri"/>
                <a:ea typeface="宋体"/>
                <a:cs typeface="Calibri"/>
              </a:rPr>
              <a:t>intersection of all three</a:t>
            </a:r>
            <a:r>
              <a:rPr lang="en-US" altLang="zh-CN" sz="2800" dirty="0">
                <a:solidFill>
                  <a:srgbClr val="13294B"/>
                </a:solidFill>
                <a:latin typeface="Calibri"/>
                <a:ea typeface="宋体"/>
                <a:cs typeface="Calibri"/>
              </a:rPr>
              <a:t> and uses a unique data asset—naturalistic, multi-domain, paired conversational data—to fill it.</a:t>
            </a:r>
            <a:endParaRPr lang="en-US" altLang="zh-CN" sz="36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600" dirty="0">
              <a:solidFill>
                <a:srgbClr val="13294B"/>
              </a:solidFill>
              <a:latin typeface="Calibri"/>
              <a:ea typeface="宋体"/>
              <a:cs typeface="Calibri"/>
            </a:endParaRPr>
          </a:p>
        </p:txBody>
      </p:sp>
    </p:spTree>
    <p:extLst>
      <p:ext uri="{BB962C8B-B14F-4D97-AF65-F5344CB8AC3E}">
        <p14:creationId xmlns:p14="http://schemas.microsoft.com/office/powerpoint/2010/main" val="1357738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29293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Our study follows a three steps empirical design: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a:t>
            </a:r>
          </a:p>
        </p:txBody>
      </p:sp>
    </p:spTree>
    <p:extLst>
      <p:ext uri="{BB962C8B-B14F-4D97-AF65-F5344CB8AC3E}">
        <p14:creationId xmlns:p14="http://schemas.microsoft.com/office/powerpoint/2010/main" val="27675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tweet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deliberate minimalism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mc:AlternateContent xmlns:mc="http://schemas.openxmlformats.org/markup-compatibility/2006" xmlns:a14="http://schemas.microsoft.com/office/drawing/2010/main">
        <mc:Choice Requires="a14">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extLst>
                  <p:ext uri="{D42A27DB-BD31-4B8C-83A1-F6EECF244321}">
                    <p14:modId xmlns:p14="http://schemas.microsoft.com/office/powerpoint/2010/main" val="3421086298"/>
                  </p:ext>
                </p:extLst>
              </p:nvPr>
            </p:nvGraphicFramePr>
            <p:xfrm>
              <a:off x="914401" y="3803152"/>
              <a:ext cx="10469571" cy="2664890"/>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dirty="0"/>
                            <a:t>Square-root transformed frequency of apology terms.</a:t>
                          </a:r>
                        </a:p>
                        <a:p>
                          <a:pPr/>
                          <a14:m>
                            <m:oMathPara xmlns:m="http://schemas.openxmlformats.org/officeDocument/2006/math">
                              <m:oMathParaPr>
                                <m:jc m:val="centerGroup"/>
                              </m:oMathParaPr>
                              <m:oMath xmlns:m="http://schemas.openxmlformats.org/officeDocument/2006/math">
                                <m:rad>
                                  <m:radPr>
                                    <m:degHide m:val="on"/>
                                    <m:ctrlPr>
                                      <a:rPr lang="en-US" altLang="zh-CN" sz="900" i="1" smtClean="0">
                                        <a:latin typeface="Cambria Math" panose="02040503050406030204" pitchFamily="18" charset="0"/>
                                      </a:rPr>
                                    </m:ctrlPr>
                                  </m:radPr>
                                  <m:deg/>
                                  <m:e>
                                    <m:f>
                                      <m:fPr>
                                        <m:ctrlPr>
                                          <a:rPr lang="en-US" altLang="zh-CN" sz="900" i="1" smtClean="0">
                                            <a:latin typeface="Cambria Math" panose="02040503050406030204" pitchFamily="18" charset="0"/>
                                          </a:rPr>
                                        </m:ctrlPr>
                                      </m:fPr>
                                      <m:num>
                                        <m:r>
                                          <a:rPr lang="en-US" altLang="zh-CN" sz="900" b="0" i="1" smtClean="0">
                                            <a:latin typeface="Cambria Math" panose="02040503050406030204" pitchFamily="18" charset="0"/>
                                          </a:rPr>
                                          <m:t>𝐶𝑜𝑢𝑛𝑡</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𝑜𝑓</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𝐴𝑝𝑜𝑙𝑜𝑔𝑦</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𝑊𝑜𝑟𝑑𝑠</m:t>
                                        </m:r>
                                      </m:num>
                                      <m:den>
                                        <m:r>
                                          <a:rPr lang="en-US" altLang="zh-CN" sz="900" b="0" i="1" smtClean="0">
                                            <a:latin typeface="Cambria Math" panose="02040503050406030204" pitchFamily="18" charset="0"/>
                                          </a:rPr>
                                          <m:t>𝑇𝑜𝑡𝑎𝑙</m:t>
                                        </m:r>
                                        <m:r>
                                          <a:rPr lang="en-US" altLang="zh-CN" sz="900" b="0" i="1" smtClean="0">
                                            <a:latin typeface="Cambria Math" panose="02040503050406030204" pitchFamily="18" charset="0"/>
                                          </a:rPr>
                                          <m:t> </m:t>
                                        </m:r>
                                        <m:r>
                                          <a:rPr lang="en-US" altLang="zh-CN" sz="900" b="0" i="1" smtClean="0">
                                            <a:latin typeface="Cambria Math" panose="02040503050406030204" pitchFamily="18" charset="0"/>
                                          </a:rPr>
                                          <m:t>𝑊𝑜𝑟𝑑𝑠</m:t>
                                        </m:r>
                                      </m:den>
                                    </m:f>
                                  </m:e>
                                </m:rad>
                              </m:oMath>
                            </m:oMathPara>
                          </a14:m>
                          <a:endParaRPr lang="en-US" altLang="zh-CN"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1–3: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mc:Choice>
        <mc:Fallback xmlns="">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extLst>
                  <p:ext uri="{D42A27DB-BD31-4B8C-83A1-F6EECF244321}">
                    <p14:modId xmlns:p14="http://schemas.microsoft.com/office/powerpoint/2010/main" val="3421086298"/>
                  </p:ext>
                </p:extLst>
              </p:nvPr>
            </p:nvGraphicFramePr>
            <p:xfrm>
              <a:off x="914401" y="3803152"/>
              <a:ext cx="10469571" cy="2664890"/>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65760">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1045337">
                    <a:tc>
                      <a:txBody>
                        <a:bodyPr/>
                        <a:lstStyle/>
                        <a:p>
                          <a:r>
                            <a:rPr lang="en-US" altLang="zh-CN" dirty="0"/>
                            <a:t>Apology density</a:t>
                          </a:r>
                          <a:endParaRPr lang="zh-CN" altLang="en-US" dirty="0"/>
                        </a:p>
                      </a:txBody>
                      <a:tcPr/>
                    </a:tc>
                    <a:tc>
                      <a:txBody>
                        <a:bodyPr/>
                        <a:lstStyle/>
                        <a:p>
                          <a:endParaRPr lang="en-TW"/>
                        </a:p>
                      </a:txBody>
                      <a:tcPr>
                        <a:blipFill>
                          <a:blip r:embed="rId5"/>
                          <a:stretch>
                            <a:fillRect l="-100364" t="-37349" r="-100727" b="-122892"/>
                          </a:stretch>
                        </a:blipFill>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1–3: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mc:Fallback>
      </mc:AlternateContent>
    </p:spTree>
    <p:extLst>
      <p:ext uri="{BB962C8B-B14F-4D97-AF65-F5344CB8AC3E}">
        <p14:creationId xmlns:p14="http://schemas.microsoft.com/office/powerpoint/2010/main" val="2004030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4.6 Sonnet, and Gemini 3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330859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dirty="0">
                <a:solidFill>
                  <a:srgbClr val="13294B"/>
                </a:solidFill>
                <a:latin typeface="Calibri"/>
                <a:ea typeface="宋体"/>
                <a:cs typeface="Calibri"/>
              </a:rPr>
              <a:t>GPT4o: </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Composite </a:t>
            </a:r>
            <a:r>
              <a:rPr lang="el-GR" sz="3200" dirty="0">
                <a:solidFill>
                  <a:srgbClr val="13294B"/>
                </a:solidFill>
                <a:latin typeface="Calibri"/>
                <a:ea typeface="宋体"/>
                <a:cs typeface="Calibri"/>
              </a:rPr>
              <a:t>Δ = +0.0973 </a:t>
            </a:r>
            <a:r>
              <a:rPr lang="el-GR" sz="3200" b="1" dirty="0">
                <a:solidFill>
                  <a:srgbClr val="13294B"/>
                </a:solidFill>
                <a:latin typeface="Calibri"/>
                <a:ea typeface="宋体"/>
                <a:cs typeface="Calibri"/>
              </a:rPr>
              <a:t>(</a:t>
            </a:r>
            <a:r>
              <a:rPr lang="en-US" sz="3200" b="1" dirty="0">
                <a:solidFill>
                  <a:srgbClr val="13294B"/>
                </a:solidFill>
                <a:latin typeface="Calibri"/>
                <a:ea typeface="宋体"/>
                <a:cs typeface="Calibri"/>
              </a:rPr>
              <a:t>over-empathizes) </a:t>
            </a:r>
            <a:r>
              <a:rPr lang="en-US" sz="3200" dirty="0">
                <a:solidFill>
                  <a:srgbClr val="13294B"/>
                </a:solidFill>
                <a:latin typeface="Calibri"/>
                <a:ea typeface="宋体"/>
                <a:cs typeface="Calibri"/>
              </a:rPr>
              <a:t>:</a:t>
            </a:r>
          </a:p>
          <a:p>
            <a:pPr lvl="1">
              <a:spcAft>
                <a:spcPts val="600"/>
              </a:spcAft>
            </a:pPr>
            <a:r>
              <a:rPr lang="en-US" sz="3200" dirty="0">
                <a:solidFill>
                  <a:srgbClr val="13294B"/>
                </a:solidFill>
                <a:latin typeface="Calibri"/>
                <a:ea typeface="宋体"/>
                <a:cs typeface="Calibri"/>
              </a:rPr>
              <a:t>	</a:t>
            </a:r>
            <a:r>
              <a:rPr lang="en-US" sz="2400" dirty="0">
                <a:solidFill>
                  <a:srgbClr val="13294B"/>
                </a:solidFill>
                <a:latin typeface="Calibri"/>
                <a:ea typeface="宋体"/>
                <a:cs typeface="Calibri"/>
              </a:rPr>
              <a:t>95% CI = [0.0841, 0.1104] | t = 14.502, p = 0.0000</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Decomposed: </a:t>
            </a:r>
          </a:p>
          <a:p>
            <a:pPr lvl="2">
              <a:spcAft>
                <a:spcPts val="600"/>
              </a:spcAft>
            </a:pP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apology_density</a:t>
            </a:r>
            <a:r>
              <a:rPr lang="en-US" sz="2400" dirty="0">
                <a:solidFill>
                  <a:srgbClr val="13294B"/>
                </a:solidFill>
                <a:latin typeface="Calibri"/>
                <a:ea typeface="宋体"/>
                <a:cs typeface="Calibri"/>
              </a:rPr>
              <a:t> = +0.1201 | </a:t>
            </a: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tone_fit</a:t>
            </a:r>
            <a:r>
              <a:rPr lang="en-US" sz="2400" dirty="0">
                <a:solidFill>
                  <a:srgbClr val="13294B"/>
                </a:solidFill>
                <a:latin typeface="Calibri"/>
                <a:ea typeface="宋体"/>
                <a:cs typeface="Calibri"/>
              </a:rPr>
              <a:t> = +0.0694</a:t>
            </a:r>
            <a:endParaRPr lang="en-US" sz="3200" dirty="0">
              <a:solidFill>
                <a:srgbClr val="13294B"/>
              </a:solidFill>
              <a:latin typeface="Calibri"/>
              <a:ea typeface="宋体"/>
              <a:cs typeface="Calibri"/>
            </a:endParaRP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Primary driver: apology density</a:t>
            </a: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330859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dirty="0">
                <a:solidFill>
                  <a:srgbClr val="13294B"/>
                </a:solidFill>
                <a:latin typeface="Calibri"/>
                <a:ea typeface="宋体"/>
                <a:cs typeface="Calibri"/>
              </a:rPr>
              <a:t>Gemini : </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Composite </a:t>
            </a:r>
            <a:r>
              <a:rPr lang="el-GR" sz="3200" dirty="0">
                <a:solidFill>
                  <a:srgbClr val="13294B"/>
                </a:solidFill>
                <a:latin typeface="Calibri"/>
                <a:ea typeface="宋体"/>
                <a:cs typeface="Calibri"/>
              </a:rPr>
              <a:t>Δ = +0.1736 </a:t>
            </a:r>
            <a:r>
              <a:rPr lang="el-GR" sz="3200" b="1" dirty="0">
                <a:solidFill>
                  <a:srgbClr val="13294B"/>
                </a:solidFill>
                <a:latin typeface="Calibri"/>
                <a:ea typeface="宋体"/>
                <a:cs typeface="Calibri"/>
              </a:rPr>
              <a:t>(</a:t>
            </a:r>
            <a:r>
              <a:rPr lang="en-US" sz="3200" b="1" dirty="0">
                <a:solidFill>
                  <a:srgbClr val="13294B"/>
                </a:solidFill>
                <a:latin typeface="Calibri"/>
                <a:ea typeface="宋体"/>
                <a:cs typeface="Calibri"/>
              </a:rPr>
              <a:t>over-empathizes) </a:t>
            </a:r>
          </a:p>
          <a:p>
            <a:pPr lvl="1">
              <a:spcAft>
                <a:spcPts val="600"/>
              </a:spcAft>
            </a:pPr>
            <a:r>
              <a:rPr lang="en-US" sz="3200" b="1" dirty="0">
                <a:solidFill>
                  <a:srgbClr val="13294B"/>
                </a:solidFill>
                <a:latin typeface="Calibri"/>
                <a:ea typeface="宋体"/>
                <a:cs typeface="Calibri"/>
              </a:rPr>
              <a:t>	</a:t>
            </a:r>
            <a:r>
              <a:rPr lang="en-US" sz="2400" dirty="0">
                <a:solidFill>
                  <a:srgbClr val="13294B"/>
                </a:solidFill>
                <a:latin typeface="Calibri"/>
                <a:ea typeface="宋体"/>
                <a:cs typeface="Calibri"/>
              </a:rPr>
              <a:t>95% CI = [0.1596, 0.1876] | t = 24.354, p = 0.0000</a:t>
            </a: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Decomposed: </a:t>
            </a:r>
          </a:p>
          <a:p>
            <a:pPr lvl="2">
              <a:spcAft>
                <a:spcPts val="600"/>
              </a:spcAft>
            </a:pP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apology_density</a:t>
            </a:r>
            <a:r>
              <a:rPr lang="en-US" sz="2400" dirty="0">
                <a:solidFill>
                  <a:srgbClr val="13294B"/>
                </a:solidFill>
                <a:latin typeface="Calibri"/>
                <a:ea typeface="宋体"/>
                <a:cs typeface="Calibri"/>
              </a:rPr>
              <a:t> = +0.1072 | </a:t>
            </a:r>
            <a:r>
              <a:rPr lang="el-GR" sz="2400" dirty="0">
                <a:solidFill>
                  <a:srgbClr val="13294B"/>
                </a:solidFill>
                <a:latin typeface="Calibri"/>
                <a:ea typeface="宋体"/>
                <a:cs typeface="Calibri"/>
              </a:rPr>
              <a:t>Δ_</a:t>
            </a:r>
            <a:r>
              <a:rPr lang="en-US" sz="2400" dirty="0" err="1">
                <a:solidFill>
                  <a:srgbClr val="13294B"/>
                </a:solidFill>
                <a:latin typeface="Calibri"/>
                <a:ea typeface="宋体"/>
                <a:cs typeface="Calibri"/>
              </a:rPr>
              <a:t>tone_fit</a:t>
            </a:r>
            <a:r>
              <a:rPr lang="en-US" sz="2400" dirty="0">
                <a:solidFill>
                  <a:srgbClr val="13294B"/>
                </a:solidFill>
                <a:latin typeface="Calibri"/>
                <a:ea typeface="宋体"/>
                <a:cs typeface="Calibri"/>
              </a:rPr>
              <a:t> = +0.2494</a:t>
            </a:r>
            <a:endParaRPr lang="en-US" sz="3200" dirty="0">
              <a:solidFill>
                <a:srgbClr val="13294B"/>
              </a:solidFill>
              <a:latin typeface="Calibri"/>
              <a:ea typeface="宋体"/>
              <a:cs typeface="Calibri"/>
            </a:endParaRPr>
          </a:p>
          <a:p>
            <a:pPr marL="914400" lvl="1" indent="-457200">
              <a:spcAft>
                <a:spcPts val="600"/>
              </a:spcAft>
              <a:buFont typeface="Arial" panose="020B0604020202020204" pitchFamily="34" charset="0"/>
              <a:buChar char="•"/>
            </a:pPr>
            <a:r>
              <a:rPr lang="en-US" sz="3200" dirty="0">
                <a:solidFill>
                  <a:srgbClr val="13294B"/>
                </a:solidFill>
                <a:latin typeface="Calibri"/>
                <a:ea typeface="宋体"/>
                <a:cs typeface="Calibri"/>
              </a:rPr>
              <a:t>Primary driver: tone-fit (</a:t>
            </a:r>
            <a:r>
              <a:rPr lang="el-GR" sz="3200" dirty="0">
                <a:solidFill>
                  <a:srgbClr val="13294B"/>
                </a:solidFill>
                <a:latin typeface="Calibri"/>
                <a:ea typeface="宋体"/>
                <a:cs typeface="Calibri"/>
              </a:rPr>
              <a:t>Δ_</a:t>
            </a:r>
            <a:r>
              <a:rPr lang="en-US" sz="3200" dirty="0" err="1">
                <a:solidFill>
                  <a:srgbClr val="13294B"/>
                </a:solidFill>
                <a:latin typeface="Calibri"/>
                <a:ea typeface="宋体"/>
                <a:cs typeface="Calibri"/>
              </a:rPr>
              <a:t>tf</a:t>
            </a:r>
            <a:r>
              <a:rPr lang="en-US" sz="3200" dirty="0">
                <a:solidFill>
                  <a:srgbClr val="13294B"/>
                </a:solidFill>
                <a:latin typeface="Calibri"/>
                <a:ea typeface="宋体"/>
                <a:cs typeface="Calibri"/>
              </a:rPr>
              <a:t>=+0.2494)</a:t>
            </a:r>
          </a:p>
        </p:txBody>
      </p:sp>
    </p:spTree>
    <p:extLst>
      <p:ext uri="{BB962C8B-B14F-4D97-AF65-F5344CB8AC3E}">
        <p14:creationId xmlns:p14="http://schemas.microsoft.com/office/powerpoint/2010/main" val="14401885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graphicFrame>
        <p:nvGraphicFramePr>
          <p:cNvPr id="2" name="Table 1">
            <a:extLst>
              <a:ext uri="{FF2B5EF4-FFF2-40B4-BE49-F238E27FC236}">
                <a16:creationId xmlns:a16="http://schemas.microsoft.com/office/drawing/2014/main" id="{F723DECA-9E70-4AAC-8A26-3E32AA1C6700}"/>
              </a:ext>
            </a:extLst>
          </p:cNvPr>
          <p:cNvGraphicFramePr>
            <a:graphicFrameLocks noGrp="1"/>
          </p:cNvGraphicFramePr>
          <p:nvPr>
            <p:extLst>
              <p:ext uri="{D42A27DB-BD31-4B8C-83A1-F6EECF244321}">
                <p14:modId xmlns:p14="http://schemas.microsoft.com/office/powerpoint/2010/main" val="3572681025"/>
              </p:ext>
            </p:extLst>
          </p:nvPr>
        </p:nvGraphicFramePr>
        <p:xfrm>
          <a:off x="1785365" y="2838451"/>
          <a:ext cx="8563804" cy="1381760"/>
        </p:xfrm>
        <a:graphic>
          <a:graphicData uri="http://schemas.openxmlformats.org/drawingml/2006/table">
            <a:tbl>
              <a:tblPr firstRow="1" bandRow="1">
                <a:tableStyleId>{21E4AEA4-8DFA-4A89-87EB-49C32662AFE0}</a:tableStyleId>
              </a:tblPr>
              <a:tblGrid>
                <a:gridCol w="873125">
                  <a:extLst>
                    <a:ext uri="{9D8B030D-6E8A-4147-A177-3AD203B41FA5}">
                      <a16:colId xmlns:a16="http://schemas.microsoft.com/office/drawing/2014/main" val="3195204535"/>
                    </a:ext>
                  </a:extLst>
                </a:gridCol>
                <a:gridCol w="1492469">
                  <a:extLst>
                    <a:ext uri="{9D8B030D-6E8A-4147-A177-3AD203B41FA5}">
                      <a16:colId xmlns:a16="http://schemas.microsoft.com/office/drawing/2014/main" val="3166186206"/>
                    </a:ext>
                  </a:extLst>
                </a:gridCol>
                <a:gridCol w="2133600">
                  <a:extLst>
                    <a:ext uri="{9D8B030D-6E8A-4147-A177-3AD203B41FA5}">
                      <a16:colId xmlns:a16="http://schemas.microsoft.com/office/drawing/2014/main" val="3630876195"/>
                    </a:ext>
                  </a:extLst>
                </a:gridCol>
                <a:gridCol w="1471449">
                  <a:extLst>
                    <a:ext uri="{9D8B030D-6E8A-4147-A177-3AD203B41FA5}">
                      <a16:colId xmlns:a16="http://schemas.microsoft.com/office/drawing/2014/main" val="368232680"/>
                    </a:ext>
                  </a:extLst>
                </a:gridCol>
                <a:gridCol w="2593161">
                  <a:extLst>
                    <a:ext uri="{9D8B030D-6E8A-4147-A177-3AD203B41FA5}">
                      <a16:colId xmlns:a16="http://schemas.microsoft.com/office/drawing/2014/main" val="148440585"/>
                    </a:ext>
                  </a:extLst>
                </a:gridCol>
              </a:tblGrid>
              <a:tr h="370840">
                <a:tc>
                  <a:txBody>
                    <a:bodyPr/>
                    <a:lstStyle/>
                    <a:p>
                      <a:r>
                        <a:rPr lang="en-US" sz="1800" dirty="0">
                          <a:solidFill>
                            <a:srgbClr val="13294B"/>
                          </a:solidFill>
                          <a:latin typeface="Calibri"/>
                          <a:ea typeface="宋体"/>
                          <a:cs typeface="Calibri"/>
                        </a:rPr>
                        <a:t>model</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13294B"/>
                          </a:solidFill>
                          <a:latin typeface="Calibri"/>
                          <a:ea typeface="宋体"/>
                          <a:cs typeface="Calibri"/>
                        </a:rPr>
                        <a:t>composite </a:t>
                      </a:r>
                      <a:r>
                        <a:rPr lang="el-GR" sz="1800" dirty="0">
                          <a:solidFill>
                            <a:srgbClr val="13294B"/>
                          </a:solidFill>
                          <a:latin typeface="Calibri"/>
                          <a:ea typeface="宋体"/>
                          <a:cs typeface="Calibri"/>
                        </a:rPr>
                        <a:t>Δ</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800" dirty="0">
                          <a:solidFill>
                            <a:srgbClr val="13294B"/>
                          </a:solidFill>
                          <a:latin typeface="Calibri"/>
                          <a:ea typeface="宋体"/>
                          <a:cs typeface="Calibri"/>
                        </a:rPr>
                        <a:t>Δ</a:t>
                      </a:r>
                      <a:r>
                        <a:rPr lang="en-US" sz="1800" dirty="0">
                          <a:solidFill>
                            <a:srgbClr val="13294B"/>
                          </a:solidFill>
                          <a:latin typeface="Calibri"/>
                          <a:ea typeface="宋体"/>
                          <a:cs typeface="Calibri"/>
                        </a:rPr>
                        <a:t> </a:t>
                      </a:r>
                      <a:r>
                        <a:rPr lang="en-US" sz="1800" dirty="0" err="1">
                          <a:solidFill>
                            <a:srgbClr val="13294B"/>
                          </a:solidFill>
                          <a:latin typeface="Calibri"/>
                          <a:ea typeface="宋体"/>
                          <a:cs typeface="Calibri"/>
                        </a:rPr>
                        <a:t>apology_density</a:t>
                      </a:r>
                      <a:endParaRPr lang="en-TW" dirty="0"/>
                    </a:p>
                    <a:p>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800" dirty="0">
                          <a:solidFill>
                            <a:srgbClr val="13294B"/>
                          </a:solidFill>
                          <a:latin typeface="Calibri"/>
                          <a:ea typeface="宋体"/>
                          <a:cs typeface="Calibri"/>
                        </a:rPr>
                        <a:t>Δ </a:t>
                      </a:r>
                      <a:r>
                        <a:rPr lang="en-US" sz="1800" dirty="0" err="1">
                          <a:solidFill>
                            <a:srgbClr val="13294B"/>
                          </a:solidFill>
                          <a:latin typeface="Calibri"/>
                          <a:ea typeface="宋体"/>
                          <a:cs typeface="Calibri"/>
                        </a:rPr>
                        <a:t>tone_fit</a:t>
                      </a:r>
                      <a:r>
                        <a:rPr lang="en-US" sz="1800" dirty="0">
                          <a:solidFill>
                            <a:srgbClr val="13294B"/>
                          </a:solidFill>
                          <a:latin typeface="Calibri"/>
                          <a:ea typeface="宋体"/>
                          <a:cs typeface="Calibri"/>
                        </a:rPr>
                        <a:t> </a:t>
                      </a:r>
                      <a:endParaRPr lang="en-TW" dirty="0"/>
                    </a:p>
                    <a:p>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13294B"/>
                          </a:solidFill>
                          <a:latin typeface="Calibri"/>
                          <a:ea typeface="宋体"/>
                          <a:cs typeface="Calibri"/>
                        </a:rPr>
                        <a:t>driver</a:t>
                      </a:r>
                      <a:endParaRPr lang="en-TW" dirty="0"/>
                    </a:p>
                    <a:p>
                      <a:endParaRPr lang="en-TW" dirty="0"/>
                    </a:p>
                  </a:txBody>
                  <a:tcPr/>
                </a:tc>
                <a:extLst>
                  <a:ext uri="{0D108BD9-81ED-4DB2-BD59-A6C34878D82A}">
                    <a16:rowId xmlns:a16="http://schemas.microsoft.com/office/drawing/2014/main" val="4293091644"/>
                  </a:ext>
                </a:extLst>
              </a:tr>
              <a:tr h="370840">
                <a:tc>
                  <a:txBody>
                    <a:bodyPr/>
                    <a:lstStyle/>
                    <a:p>
                      <a:r>
                        <a:rPr lang="en-US" sz="1800" dirty="0">
                          <a:solidFill>
                            <a:srgbClr val="13294B"/>
                          </a:solidFill>
                          <a:latin typeface="Calibri"/>
                          <a:ea typeface="宋体"/>
                          <a:cs typeface="Calibri"/>
                        </a:rPr>
                        <a:t>GPT4o</a:t>
                      </a:r>
                      <a:endParaRPr lang="en-TW" dirty="0"/>
                    </a:p>
                  </a:txBody>
                  <a:tcPr/>
                </a:tc>
                <a:tc>
                  <a:txBody>
                    <a:bodyPr/>
                    <a:lstStyle/>
                    <a:p>
                      <a:r>
                        <a:rPr lang="en-US" sz="1800" dirty="0">
                          <a:solidFill>
                            <a:srgbClr val="13294B"/>
                          </a:solidFill>
                          <a:latin typeface="Calibri"/>
                          <a:ea typeface="宋体"/>
                          <a:cs typeface="Calibri"/>
                        </a:rPr>
                        <a:t>0.0973</a:t>
                      </a:r>
                      <a:endParaRPr lang="en-TW" dirty="0"/>
                    </a:p>
                  </a:txBody>
                  <a:tcPr/>
                </a:tc>
                <a:tc>
                  <a:txBody>
                    <a:bodyPr/>
                    <a:lstStyle/>
                    <a:p>
                      <a:r>
                        <a:rPr lang="en-US" sz="1800" dirty="0">
                          <a:solidFill>
                            <a:srgbClr val="13294B"/>
                          </a:solidFill>
                          <a:latin typeface="Calibri"/>
                          <a:ea typeface="宋体"/>
                          <a:cs typeface="Calibri"/>
                        </a:rPr>
                        <a:t>0.1201</a:t>
                      </a:r>
                      <a:endParaRPr lang="en-TW" dirty="0"/>
                    </a:p>
                  </a:txBody>
                  <a:tcPr/>
                </a:tc>
                <a:tc>
                  <a:txBody>
                    <a:bodyPr/>
                    <a:lstStyle/>
                    <a:p>
                      <a:r>
                        <a:rPr lang="en-US" sz="1800" dirty="0">
                          <a:solidFill>
                            <a:srgbClr val="13294B"/>
                          </a:solidFill>
                          <a:latin typeface="Calibri"/>
                          <a:ea typeface="宋体"/>
                          <a:cs typeface="Calibri"/>
                        </a:rPr>
                        <a:t>0.0694</a:t>
                      </a:r>
                      <a:endParaRPr lang="en-TW" dirty="0"/>
                    </a:p>
                  </a:txBody>
                  <a:tcPr/>
                </a:tc>
                <a:tc>
                  <a:txBody>
                    <a:bodyPr/>
                    <a:lstStyle/>
                    <a:p>
                      <a:r>
                        <a:rPr lang="en-US" sz="1800" dirty="0" err="1">
                          <a:solidFill>
                            <a:srgbClr val="13294B"/>
                          </a:solidFill>
                          <a:latin typeface="Calibri"/>
                          <a:ea typeface="宋体"/>
                          <a:cs typeface="Calibri"/>
                        </a:rPr>
                        <a:t>apology_density</a:t>
                      </a:r>
                      <a:r>
                        <a:rPr lang="en-US" sz="1800" dirty="0">
                          <a:solidFill>
                            <a:srgbClr val="13294B"/>
                          </a:solidFill>
                          <a:latin typeface="Calibri"/>
                          <a:ea typeface="宋体"/>
                          <a:cs typeface="Calibri"/>
                        </a:rPr>
                        <a:t> </a:t>
                      </a:r>
                      <a:endParaRPr lang="en-TW" dirty="0"/>
                    </a:p>
                  </a:txBody>
                  <a:tcPr/>
                </a:tc>
                <a:extLst>
                  <a:ext uri="{0D108BD9-81ED-4DB2-BD59-A6C34878D82A}">
                    <a16:rowId xmlns:a16="http://schemas.microsoft.com/office/drawing/2014/main" val="1800357787"/>
                  </a:ext>
                </a:extLst>
              </a:tr>
              <a:tr h="370840">
                <a:tc>
                  <a:txBody>
                    <a:bodyPr/>
                    <a:lstStyle/>
                    <a:p>
                      <a:r>
                        <a:rPr lang="en-US" sz="1800" dirty="0">
                          <a:solidFill>
                            <a:srgbClr val="13294B"/>
                          </a:solidFill>
                          <a:latin typeface="Calibri"/>
                          <a:ea typeface="宋体"/>
                          <a:cs typeface="Calibri"/>
                        </a:rPr>
                        <a:t>Gemini</a:t>
                      </a:r>
                      <a:endParaRPr lang="en-TW" dirty="0"/>
                    </a:p>
                  </a:txBody>
                  <a:tcPr/>
                </a:tc>
                <a:tc>
                  <a:txBody>
                    <a:bodyPr/>
                    <a:lstStyle/>
                    <a:p>
                      <a:r>
                        <a:rPr lang="en-US" sz="1800" dirty="0">
                          <a:solidFill>
                            <a:srgbClr val="13294B"/>
                          </a:solidFill>
                          <a:latin typeface="Calibri"/>
                          <a:ea typeface="宋体"/>
                          <a:cs typeface="Calibri"/>
                        </a:rPr>
                        <a:t>0.1736</a:t>
                      </a:r>
                      <a:endParaRPr lang="en-TW" dirty="0"/>
                    </a:p>
                  </a:txBody>
                  <a:tcPr/>
                </a:tc>
                <a:tc>
                  <a:txBody>
                    <a:bodyPr/>
                    <a:lstStyle/>
                    <a:p>
                      <a:r>
                        <a:rPr lang="en-US" sz="1800" dirty="0">
                          <a:solidFill>
                            <a:srgbClr val="13294B"/>
                          </a:solidFill>
                          <a:latin typeface="Calibri"/>
                          <a:ea typeface="宋体"/>
                          <a:cs typeface="Calibri"/>
                        </a:rPr>
                        <a:t>0.1072</a:t>
                      </a:r>
                      <a:endParaRPr lang="en-TW" dirty="0"/>
                    </a:p>
                  </a:txBody>
                  <a:tcPr/>
                </a:tc>
                <a:tc>
                  <a:txBody>
                    <a:bodyPr/>
                    <a:lstStyle/>
                    <a:p>
                      <a:r>
                        <a:rPr lang="en-US" sz="1800" dirty="0">
                          <a:solidFill>
                            <a:srgbClr val="13294B"/>
                          </a:solidFill>
                          <a:latin typeface="Calibri"/>
                          <a:ea typeface="宋体"/>
                          <a:cs typeface="Calibri"/>
                        </a:rPr>
                        <a:t>0.2494</a:t>
                      </a:r>
                      <a:endParaRPr lang="en-TW"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err="1">
                          <a:solidFill>
                            <a:srgbClr val="13294B"/>
                          </a:solidFill>
                          <a:latin typeface="Calibri"/>
                          <a:ea typeface="宋体"/>
                          <a:cs typeface="Calibri"/>
                        </a:rPr>
                        <a:t>tone_fit</a:t>
                      </a:r>
                      <a:endParaRPr lang="en-US" sz="1800" dirty="0">
                        <a:solidFill>
                          <a:srgbClr val="13294B"/>
                        </a:solidFill>
                        <a:latin typeface="Calibri"/>
                        <a:ea typeface="宋体"/>
                        <a:cs typeface="Calibri"/>
                      </a:endParaRPr>
                    </a:p>
                  </a:txBody>
                  <a:tcPr/>
                </a:tc>
                <a:extLst>
                  <a:ext uri="{0D108BD9-81ED-4DB2-BD59-A6C34878D82A}">
                    <a16:rowId xmlns:a16="http://schemas.microsoft.com/office/drawing/2014/main" val="3198097032"/>
                  </a:ext>
                </a:extLst>
              </a:tr>
            </a:tbl>
          </a:graphicData>
        </a:graphic>
      </p:graphicFrame>
    </p:spTree>
    <p:extLst>
      <p:ext uri="{BB962C8B-B14F-4D97-AF65-F5344CB8AC3E}">
        <p14:creationId xmlns:p14="http://schemas.microsoft.com/office/powerpoint/2010/main" val="39491800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pic>
        <p:nvPicPr>
          <p:cNvPr id="6" name="Picture 5" descr="A graph of different sizes and colors&#10;&#10;Description automatically generated with medium confidence">
            <a:extLst>
              <a:ext uri="{FF2B5EF4-FFF2-40B4-BE49-F238E27FC236}">
                <a16:creationId xmlns:a16="http://schemas.microsoft.com/office/drawing/2014/main" id="{0E8B74AF-3412-6B8E-C00E-2EC30A84B4C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0457" y="1942598"/>
            <a:ext cx="10855424" cy="3775246"/>
          </a:xfrm>
          <a:prstGeom prst="rect">
            <a:avLst/>
          </a:prstGeom>
        </p:spPr>
      </p:pic>
    </p:spTree>
    <p:extLst>
      <p:ext uri="{BB962C8B-B14F-4D97-AF65-F5344CB8AC3E}">
        <p14:creationId xmlns:p14="http://schemas.microsoft.com/office/powerpoint/2010/main" val="3293654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Results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pic>
        <p:nvPicPr>
          <p:cNvPr id="7" name="Picture 6" descr="Anova">
            <a:extLst>
              <a:ext uri="{FF2B5EF4-FFF2-40B4-BE49-F238E27FC236}">
                <a16:creationId xmlns:a16="http://schemas.microsoft.com/office/drawing/2014/main" id="{5E114D69-1282-6D13-B7BA-66B8EBE7CC9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4641" y="1931816"/>
            <a:ext cx="10979075" cy="3911936"/>
          </a:xfrm>
          <a:prstGeom prst="rect">
            <a:avLst/>
          </a:prstGeom>
        </p:spPr>
      </p:pic>
    </p:spTree>
    <p:extLst>
      <p:ext uri="{BB962C8B-B14F-4D97-AF65-F5344CB8AC3E}">
        <p14:creationId xmlns:p14="http://schemas.microsoft.com/office/powerpoint/2010/main" val="1616373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Discussion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3400931"/>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b="1" dirty="0">
                <a:solidFill>
                  <a:srgbClr val="13294B"/>
                </a:solidFill>
                <a:latin typeface="Calibri"/>
                <a:ea typeface="宋体"/>
                <a:cs typeface="Calibri"/>
              </a:rPr>
              <a:t>RQ1 — Do frontier LLMs systematically over- or under-empathize relative to human agents?</a:t>
            </a:r>
          </a:p>
          <a:p>
            <a:pPr lvl="1">
              <a:spcAft>
                <a:spcPts val="600"/>
              </a:spcAft>
            </a:pPr>
            <a:r>
              <a:rPr lang="en-US" sz="2400" dirty="0">
                <a:solidFill>
                  <a:srgbClr val="13294B"/>
                </a:solidFill>
                <a:latin typeface="Calibri"/>
                <a:ea typeface="宋体"/>
                <a:cs typeface="Calibri"/>
              </a:rPr>
              <a:t>Both models show statistically significant positive calibration deltas, meaning both over-empathize relative to human agents. Also, there’s different tendency in </a:t>
            </a:r>
            <a:r>
              <a:rPr lang="en-US" sz="2400" b="1" dirty="0">
                <a:solidFill>
                  <a:srgbClr val="13294B"/>
                </a:solidFill>
                <a:latin typeface="Calibri"/>
                <a:ea typeface="宋体"/>
                <a:cs typeface="Calibri"/>
              </a:rPr>
              <a:t>models</a:t>
            </a:r>
            <a:r>
              <a:rPr lang="en-US" sz="2400" dirty="0">
                <a:solidFill>
                  <a:srgbClr val="13294B"/>
                </a:solidFill>
                <a:latin typeface="Calibri"/>
                <a:ea typeface="宋体"/>
                <a:cs typeface="Calibri"/>
              </a:rPr>
              <a:t> and </a:t>
            </a:r>
            <a:r>
              <a:rPr lang="en-US" sz="2400" b="1" dirty="0">
                <a:solidFill>
                  <a:srgbClr val="13294B"/>
                </a:solidFill>
                <a:latin typeface="Calibri"/>
                <a:ea typeface="宋体"/>
                <a:cs typeface="Calibri"/>
              </a:rPr>
              <a:t>frustration levels.</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Discussion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357020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sz="3200" b="1" dirty="0">
                <a:solidFill>
                  <a:srgbClr val="13294B"/>
                </a:solidFill>
                <a:latin typeface="Calibri"/>
                <a:ea typeface="宋体"/>
                <a:cs typeface="Calibri"/>
              </a:rPr>
              <a:t>RQ2 — Is this miscalibration consistent across industry domains (airline vs. technology)?</a:t>
            </a:r>
          </a:p>
          <a:p>
            <a:pPr lvl="1">
              <a:spcAft>
                <a:spcPts val="600"/>
              </a:spcAft>
            </a:pPr>
            <a:r>
              <a:rPr lang="en-US" sz="2400" dirty="0">
                <a:solidFill>
                  <a:srgbClr val="13294B"/>
                </a:solidFill>
                <a:latin typeface="Calibri"/>
                <a:ea typeface="宋体"/>
                <a:cs typeface="Calibri"/>
              </a:rPr>
              <a:t>The two-way ANOVA finds a significant main effect of domain, meaning both models over-empathize more in the technology sector than in the airline sector. A plausible interpretation: technology-sector human agents in the dataset tend to write more procedural, lower-warmth replies, so LLM defaults diverge more from that baseline than from the warmer airline-agent style.</a:t>
            </a:r>
            <a:endParaRPr lang="en-US"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sz="3200" b="1" dirty="0">
              <a:solidFill>
                <a:srgbClr val="13294B"/>
              </a:solidFill>
              <a:latin typeface="Calibri"/>
              <a:ea typeface="宋体"/>
              <a:cs typeface="Calibri"/>
            </a:endParaRPr>
          </a:p>
        </p:txBody>
      </p:sp>
    </p:spTree>
    <p:extLst>
      <p:ext uri="{BB962C8B-B14F-4D97-AF65-F5344CB8AC3E}">
        <p14:creationId xmlns:p14="http://schemas.microsoft.com/office/powerpoint/2010/main" val="263997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343170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Evaluate more models (Claude/Grok/</a:t>
            </a:r>
            <a:r>
              <a:rPr lang="en-US" altLang="zh-CN" sz="3200" b="1" dirty="0" err="1">
                <a:solidFill>
                  <a:srgbClr val="13294B"/>
                </a:solidFill>
                <a:latin typeface="Calibri"/>
                <a:ea typeface="宋体"/>
                <a:cs typeface="Calibri"/>
              </a:rPr>
              <a:t>Qwen</a:t>
            </a:r>
            <a:r>
              <a:rPr lang="en-US" altLang="zh-CN" sz="3200" b="1"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Further tuning LLM-as-judge to evaluate tone-fit score</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Multi-trial Averaging for tone-fit score</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Incorporate more dimension in ECS</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424</TotalTime>
  <Words>1332</Words>
  <Application>Microsoft Office PowerPoint</Application>
  <PresentationFormat>宽屏</PresentationFormat>
  <Paragraphs>178</Paragraphs>
  <Slides>20</Slides>
  <Notes>20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20</vt:i4>
      </vt:variant>
    </vt:vector>
  </HeadingPairs>
  <TitlesOfParts>
    <vt:vector size="28" baseType="lpstr">
      <vt:lpstr>Lato Extended</vt:lpstr>
      <vt:lpstr>v-sans</vt:lpstr>
      <vt:lpstr>等线</vt:lpstr>
      <vt:lpstr>等线 Light</vt:lpstr>
      <vt:lpstr>Arial</vt:lpstr>
      <vt:lpstr>Calibri</vt:lpstr>
      <vt:lpstr>Cambria Math</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Kang, Zhanchen</dc:creator>
  <cp:lastModifiedBy>Kang, Zhanchen</cp:lastModifiedBy>
  <cp:revision>129</cp:revision>
  <dcterms:created xsi:type="dcterms:W3CDTF">2026-02-23T02:25:32Z</dcterms:created>
  <dcterms:modified xsi:type="dcterms:W3CDTF">2026-04-30T13:48:23Z</dcterms:modified>
</cp:coreProperties>
</file>